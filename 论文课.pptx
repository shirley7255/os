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8" r:id="rId4"/>
    <p:sldId id="259" r:id="rId5"/>
    <p:sldId id="257" r:id="rId6"/>
    <p:sldId id="260" r:id="rId7"/>
    <p:sldId id="306" r:id="rId8"/>
    <p:sldId id="261" r:id="rId9"/>
    <p:sldId id="286" r:id="rId11"/>
    <p:sldId id="308" r:id="rId12"/>
    <p:sldId id="264" r:id="rId13"/>
    <p:sldId id="310" r:id="rId14"/>
    <p:sldId id="311" r:id="rId15"/>
    <p:sldId id="312" r:id="rId16"/>
    <p:sldId id="262" r:id="rId17"/>
    <p:sldId id="332" r:id="rId18"/>
    <p:sldId id="334" r:id="rId19"/>
    <p:sldId id="333" r:id="rId20"/>
    <p:sldId id="287" r:id="rId21"/>
    <p:sldId id="275" r:id="rId22"/>
    <p:sldId id="353" r:id="rId23"/>
    <p:sldId id="28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24" autoAdjust="0"/>
    <p:restoredTop sz="94660" autoAdjust="0"/>
  </p:normalViewPr>
  <p:slideViewPr>
    <p:cSldViewPr snapToGrid="0" showGuides="1">
      <p:cViewPr varScale="1">
        <p:scale>
          <a:sx n="117" d="100"/>
          <a:sy n="117" d="100"/>
        </p:scale>
        <p:origin x="-108" y="-306"/>
      </p:cViewPr>
      <p:guideLst>
        <p:guide orient="horz" pos="220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9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9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6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36486" y="5106096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3475355" y="3807460"/>
            <a:ext cx="54470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2312668 </a:t>
            </a:r>
            <a:r>
              <a:rPr lang="zh-CN" altLang="en-US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李佳</a:t>
            </a:r>
            <a:r>
              <a:rPr lang="en-US" altLang="zh-CN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2312674 </a:t>
            </a:r>
            <a:r>
              <a:rPr lang="zh-CN" altLang="en-US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朱晨瑞</a:t>
            </a:r>
            <a:r>
              <a:rPr lang="en-US" altLang="zh-CN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2311061 </a:t>
            </a:r>
            <a:r>
              <a:rPr lang="zh-CN" altLang="en-US" sz="20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马淏怡</a:t>
            </a:r>
            <a:endParaRPr lang="zh-CN" altLang="en-US" sz="20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365541" y="2089133"/>
            <a:ext cx="9122410" cy="144399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操作系统论文</a:t>
            </a:r>
            <a:r>
              <a:rPr lang="zh-CN" altLang="en-US" sz="8800" dirty="0">
                <a:ln w="0"/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zh-CN" altLang="en-US" sz="8800" dirty="0">
              <a:ln w="0"/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38300" y="4671695"/>
            <a:ext cx="8222615" cy="1181100"/>
          </a:xfrm>
          <a:prstGeom prst="rect">
            <a:avLst/>
          </a:prstGeom>
          <a:noFill/>
        </p:spPr>
        <p:txBody>
          <a:bodyPr wrap="square" lIns="91436" tIns="45718" rIns="91436" bIns="45718" rtlCol="0">
            <a:no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NeoMem</a:t>
            </a:r>
            <a:r>
              <a:rPr lang="zh-CN" altLang="en-US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：用于</a:t>
            </a:r>
            <a:r>
              <a:rPr lang="en-US" altLang="zh-CN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CXL</a:t>
            </a:r>
            <a:r>
              <a:rPr lang="zh-CN" altLang="en-US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原生内存分层的硬件</a:t>
            </a:r>
            <a:r>
              <a:rPr lang="en-US" altLang="zh-CN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/</a:t>
            </a:r>
            <a:r>
              <a:rPr lang="zh-CN" altLang="en-US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软件协同设计</a:t>
            </a:r>
            <a:endParaRPr lang="zh-CN" altLang="en-US" sz="32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 </a:t>
            </a:r>
            <a:endParaRPr lang="zh-CN" altLang="en-US" sz="32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5" y="4634620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4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>
            <p:custDataLst>
              <p:tags r:id="rId1"/>
            </p:custDataLst>
          </p:nvPr>
        </p:nvCxnSpPr>
        <p:spPr>
          <a:xfrm>
            <a:off x="6038455" y="1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5" y="2736811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22300" y="6654793"/>
            <a:ext cx="1271471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13076" y="245329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>
            <p:custDataLst>
              <p:tags r:id="rId2"/>
            </p:custDataLst>
          </p:nvPr>
        </p:nvSpPr>
        <p:spPr>
          <a:xfrm rot="10800000" flipV="1">
            <a:off x="5796314" y="1705946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5" name="圆角矩形 74"/>
          <p:cNvSpPr/>
          <p:nvPr>
            <p:custDataLst>
              <p:tags r:id="rId3"/>
            </p:custDataLst>
          </p:nvPr>
        </p:nvSpPr>
        <p:spPr>
          <a:xfrm rot="10800000" flipV="1">
            <a:off x="5797245" y="297688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77" name="圆角矩形 76"/>
          <p:cNvSpPr/>
          <p:nvPr>
            <p:custDataLst>
              <p:tags r:id="rId4"/>
            </p:custDataLst>
          </p:nvPr>
        </p:nvSpPr>
        <p:spPr>
          <a:xfrm rot="10800000" flipV="1">
            <a:off x="5797245" y="424688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>
            <p:custDataLst>
              <p:tags r:id="rId5"/>
            </p:custDataLst>
          </p:nvPr>
        </p:nvSpPr>
        <p:spPr>
          <a:xfrm>
            <a:off x="3244677" y="1564949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6"/>
            </p:custDataLst>
          </p:nvPr>
        </p:nvSpPr>
        <p:spPr>
          <a:xfrm>
            <a:off x="3248529" y="2839539"/>
            <a:ext cx="2010410" cy="64389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3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7"/>
            </p:custDataLst>
          </p:nvPr>
        </p:nvSpPr>
        <p:spPr>
          <a:xfrm>
            <a:off x="2988814" y="4138749"/>
            <a:ext cx="2467610" cy="64389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评估与</a:t>
            </a:r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3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/>
          <p:cNvSpPr/>
          <p:nvPr>
            <p:custDataLst>
              <p:tags r:id="rId8"/>
            </p:custDataLst>
          </p:nvPr>
        </p:nvSpPr>
        <p:spPr>
          <a:xfrm>
            <a:off x="3202139" y="2153781"/>
            <a:ext cx="2040935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  <a:endParaRPr lang="en-US" altLang="zh-CN" sz="11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>
            <p:custDataLst>
              <p:tags r:id="rId9"/>
            </p:custDataLst>
          </p:nvPr>
        </p:nvSpPr>
        <p:spPr>
          <a:xfrm>
            <a:off x="3885399" y="3485867"/>
            <a:ext cx="900430" cy="25908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sz="11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>
            <p:custDataLst>
              <p:tags r:id="rId10"/>
            </p:custDataLst>
          </p:nvPr>
        </p:nvSpPr>
        <p:spPr>
          <a:xfrm>
            <a:off x="2989057" y="4737452"/>
            <a:ext cx="2549525" cy="25908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EVALUATION AND CONTRIBUTION</a:t>
            </a:r>
            <a:endParaRPr lang="en-US" altLang="zh-CN" sz="1100" dirty="0">
              <a:solidFill>
                <a:srgbClr val="A2A2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 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-21101" y="2847434"/>
            <a:ext cx="12213103" cy="1296345"/>
            <a:chOff x="-21102" y="2847433"/>
            <a:chExt cx="12213102" cy="1296345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  <a:endParaRPr lang="zh-CN" altLang="en-US" sz="48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338" y="364333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338" y="390876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338" y="312217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338" y="338760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338" y="2850728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4805484" y="3264361"/>
              <a:ext cx="421018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 27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30" name="组 2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5" name="矩形 24"/>
          <p:cNvSpPr/>
          <p:nvPr/>
        </p:nvSpPr>
        <p:spPr>
          <a:xfrm>
            <a:off x="713880" y="33973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</a:t>
            </a:r>
            <a:r>
              <a:rPr lang="en-US" altLang="zh-CN" sz="100" dirty="0" smtClean="0">
                <a:solidFill>
                  <a:schemeClr val="bg1"/>
                </a:solidFill>
              </a:rPr>
              <a:t>      PPT</a:t>
            </a:r>
            <a:r>
              <a:rPr lang="zh-CN" altLang="en-US" sz="100" dirty="0" smtClean="0">
                <a:solidFill>
                  <a:schemeClr val="bg1"/>
                </a:solidFill>
              </a:rPr>
              <a:t>论坛：</a:t>
            </a:r>
            <a:r>
              <a:rPr lang="en-US" altLang="zh-CN" sz="100" dirty="0" smtClean="0">
                <a:solidFill>
                  <a:schemeClr val="bg1"/>
                </a:solidFill>
              </a:rPr>
              <a:t>www.1ppt.cn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515019" y="325001"/>
            <a:ext cx="3375403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59436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en-US" altLang="zh-CN" sz="3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</a:t>
            </a:r>
            <a:r>
              <a:rPr lang="zh-CN" altLang="en-US" sz="3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内存分层面临的挑战</a:t>
            </a:r>
            <a:endParaRPr lang="zh-CN" altLang="en-US" sz="32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4095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文本框 374"/>
          <p:cNvSpPr txBox="1"/>
          <p:nvPr>
            <p:custDataLst>
              <p:tags r:id="rId1"/>
            </p:custDataLst>
          </p:nvPr>
        </p:nvSpPr>
        <p:spPr>
          <a:xfrm>
            <a:off x="540291" y="1606097"/>
            <a:ext cx="1400810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6" name="直接连接符 375"/>
          <p:cNvCxnSpPr/>
          <p:nvPr>
            <p:custDataLst>
              <p:tags r:id="rId2"/>
            </p:custDataLst>
          </p:nvPr>
        </p:nvCxnSpPr>
        <p:spPr>
          <a:xfrm>
            <a:off x="620875" y="2111366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文本框 379"/>
          <p:cNvSpPr txBox="1"/>
          <p:nvPr>
            <p:custDataLst>
              <p:tags r:id="rId3"/>
            </p:custDataLst>
          </p:nvPr>
        </p:nvSpPr>
        <p:spPr>
          <a:xfrm>
            <a:off x="540291" y="3962683"/>
            <a:ext cx="1957705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异构内存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1" name="直接连接符 380"/>
          <p:cNvCxnSpPr/>
          <p:nvPr>
            <p:custDataLst>
              <p:tags r:id="rId4"/>
            </p:custDataLst>
          </p:nvPr>
        </p:nvCxnSpPr>
        <p:spPr>
          <a:xfrm>
            <a:off x="620875" y="4454698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矩形 381"/>
          <p:cNvSpPr/>
          <p:nvPr>
            <p:custDataLst>
              <p:tags r:id="rId5"/>
            </p:custDataLst>
          </p:nvPr>
        </p:nvSpPr>
        <p:spPr>
          <a:xfrm>
            <a:off x="532500" y="2125991"/>
            <a:ext cx="4732189" cy="104965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传统服务器里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只能插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DDR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），但：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很贵、扩展不了太多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不同应用需要不同成本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性能的存储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3" name="矩形 382"/>
          <p:cNvSpPr/>
          <p:nvPr>
            <p:custDataLst>
              <p:tags r:id="rId6"/>
            </p:custDataLst>
          </p:nvPr>
        </p:nvSpPr>
        <p:spPr>
          <a:xfrm>
            <a:off x="463728" y="4454927"/>
            <a:ext cx="4732189" cy="168973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出现后，服务器可以外接各种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像内存一样使用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的设备：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便宜但慢的大容量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DRAM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更慢但更便宜的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PCM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ReRAM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4" name="矩形 393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9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" name="矩形 396"/>
          <p:cNvSpPr/>
          <p:nvPr/>
        </p:nvSpPr>
        <p:spPr>
          <a:xfrm>
            <a:off x="2515019" y="325001"/>
            <a:ext cx="3375403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9" name="组 398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865495" y="1530350"/>
            <a:ext cx="54076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65495" y="1605915"/>
            <a:ext cx="5163820" cy="4323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但问题是：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内存比 DDR 慢很多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论文的 Fig.1 和 Fig.3 说明：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/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DDR5: ~100ns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CXL-DRAM：170–250ns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FPGA CXL 设备：430ns（比 DDR 慢 3.6×）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PCM/ReRAM 会更慢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所以系统自动形成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内存分层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结构：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层级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快内存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DRAM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慢内存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CXL Memory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515019" y="325001"/>
            <a:ext cx="3375403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59436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en-US" altLang="zh-CN" sz="3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 </a:t>
            </a:r>
            <a:r>
              <a:rPr lang="zh-CN" altLang="en-US" sz="3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内存分层面临的挑战</a:t>
            </a:r>
            <a:endParaRPr lang="zh-CN" altLang="en-US" sz="32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268922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热数据（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Hot pages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必须放到快层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冷数据（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Cold pages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放到慢层节省成本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操作系统要做的就是：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找出哪些页是热的？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en-US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DRAM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冷页从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DRAM </a:t>
            </a:r>
            <a:r>
              <a:rPr lang="en-US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63751" y="1593865"/>
            <a:ext cx="1755700" cy="1890765"/>
            <a:chOff x="4925753" y="1651222"/>
            <a:chExt cx="1755700" cy="1890765"/>
          </a:xfrm>
        </p:grpSpPr>
        <p:sp>
          <p:nvSpPr>
            <p:cNvPr id="20" name="圆角矩形 19"/>
            <p:cNvSpPr/>
            <p:nvPr/>
          </p:nvSpPr>
          <p:spPr>
            <a:xfrm>
              <a:off x="4925753" y="1803623"/>
              <a:ext cx="1755699" cy="1738364"/>
            </a:xfrm>
            <a:prstGeom prst="roundRect">
              <a:avLst>
                <a:gd name="adj" fmla="val 4378"/>
              </a:avLst>
            </a:prstGeom>
            <a:solidFill>
              <a:srgbClr val="4472C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4925754" y="1651222"/>
              <a:ext cx="1755699" cy="1738364"/>
            </a:xfrm>
            <a:prstGeom prst="roundRect">
              <a:avLst>
                <a:gd name="adj" fmla="val 4378"/>
              </a:avLst>
            </a:prstGeom>
            <a:solidFill>
              <a:srgbClr val="4472C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4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</a:t>
              </a: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4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手段</a:t>
              </a: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785450" y="1938432"/>
            <a:ext cx="1096010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难点：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784932" y="2722079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3784931" y="2616407"/>
            <a:ext cx="7340412" cy="868421"/>
          </a:xfrm>
          <a:prstGeom prst="roundRect">
            <a:avLst>
              <a:gd name="adj" fmla="val 3819"/>
            </a:avLst>
          </a:prstGeom>
          <a:solidFill>
            <a:srgbClr val="4472C4">
              <a:alpha val="63000"/>
            </a:srgbClr>
          </a:solidFill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内存是直接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load/store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不会触发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page fault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，也不会通知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>
            <p:custDataLst>
              <p:tags r:id="rId1"/>
            </p:custDataLst>
          </p:nvPr>
        </p:nvSpPr>
        <p:spPr>
          <a:xfrm rot="10800000" flipV="1">
            <a:off x="1188792" y="4474839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1613158" y="4443140"/>
            <a:ext cx="1909445" cy="38989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5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扫描页表</a:t>
            </a:r>
            <a:r>
              <a:rPr lang="en-US" altLang="zh-CN" sz="15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 bit</a:t>
            </a:r>
            <a:endParaRPr lang="zh-CN" altLang="en-US" sz="15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3"/>
            </p:custDataLst>
          </p:nvPr>
        </p:nvCxnSpPr>
        <p:spPr>
          <a:xfrm>
            <a:off x="1701529" y="4811865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1617345" y="4981575"/>
            <a:ext cx="2397125" cy="1794510"/>
          </a:xfrm>
          <a:prstGeom prst="rect">
            <a:avLst/>
          </a:prstGeom>
        </p:spPr>
        <p:txBody>
          <a:bodyPr wrap="square" lIns="91438" tIns="45719" rIns="91438" bIns="45719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周期性清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Access bit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，过一段时间再扫描看哪些被重新置位。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扫描慢，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开销大。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分不清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2000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>
            <p:custDataLst>
              <p:tags r:id="rId5"/>
            </p:custDataLst>
          </p:nvPr>
        </p:nvSpPr>
        <p:spPr>
          <a:xfrm rot="10800000" flipV="1">
            <a:off x="4803844" y="4474839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5228210" y="4443140"/>
            <a:ext cx="1896110" cy="38989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5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让特定页面故意出错</a:t>
            </a:r>
            <a:endParaRPr lang="zh-CN" altLang="en-US" sz="15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5316581" y="4811865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5232703" y="4889752"/>
            <a:ext cx="2397220" cy="128905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故意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毒化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PTE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，下次访问触发保护异常，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借机记录这页被访问。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问题：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代价大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>
            <p:custDataLst>
              <p:tags r:id="rId9"/>
            </p:custDataLst>
          </p:nvPr>
        </p:nvSpPr>
        <p:spPr>
          <a:xfrm rot="10800000" flipV="1">
            <a:off x="8418896" y="4474839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8843262" y="4443140"/>
            <a:ext cx="1462405" cy="38989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5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直接采样</a:t>
            </a:r>
            <a:r>
              <a:rPr lang="en-US" altLang="zh-CN" sz="15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miss </a:t>
            </a:r>
            <a:endParaRPr lang="zh-CN" altLang="en-US" sz="15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11"/>
            </p:custDataLst>
          </p:nvPr>
        </p:nvCxnSpPr>
        <p:spPr>
          <a:xfrm>
            <a:off x="8931633" y="4811865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8847755" y="4889752"/>
            <a:ext cx="2397220" cy="104902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直接采样，看哪些地址经常造成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cache miss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开销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巨大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55" name="文本框 54"/>
          <p:cNvSpPr txBox="1"/>
          <p:nvPr/>
        </p:nvSpPr>
        <p:spPr>
          <a:xfrm>
            <a:off x="647719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515019" y="325001"/>
            <a:ext cx="3375403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 57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0" name="组 5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4" name="圆角矩形 6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2" name="圆角矩形 6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-21101" y="2847434"/>
            <a:ext cx="12213103" cy="1296345"/>
            <a:chOff x="-21102" y="2847433"/>
            <a:chExt cx="12213102" cy="1296345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24810" cy="82867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解决方案</a:t>
              </a:r>
              <a:endParaRPr lang="zh-CN" altLang="en-US" sz="48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338" y="364333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338" y="390876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338" y="312217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338" y="338760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338" y="2850728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6038406" y="3264361"/>
              <a:ext cx="1744345" cy="459105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SOLUTION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 27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30" name="组 2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59436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NeoProf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NeoMem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协同方案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6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核心思想：既然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内存本来就有设备侧控制器，那就把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访问统计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热页检测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硬件化，做到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设备里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4095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779555" y="2823479"/>
            <a:ext cx="1822836" cy="1738364"/>
            <a:chOff x="4925753" y="1803623"/>
            <a:chExt cx="1822836" cy="1738364"/>
          </a:xfrm>
        </p:grpSpPr>
        <p:sp>
          <p:nvSpPr>
            <p:cNvPr id="20" name="圆角矩形 19"/>
            <p:cNvSpPr/>
            <p:nvPr/>
          </p:nvSpPr>
          <p:spPr>
            <a:xfrm>
              <a:off x="4925753" y="1803623"/>
              <a:ext cx="1755699" cy="1738364"/>
            </a:xfrm>
            <a:prstGeom prst="roundRect">
              <a:avLst/>
            </a:prstGeom>
            <a:solidFill>
              <a:srgbClr val="4472C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4992890" y="1803623"/>
              <a:ext cx="1755699" cy="1738364"/>
            </a:xfrm>
            <a:prstGeom prst="roundRect">
              <a:avLst/>
            </a:prstGeom>
            <a:solidFill>
              <a:srgbClr val="4472C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设计目标</a:t>
              </a: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2" name="直接连接符 21"/>
          <p:cNvCxnSpPr/>
          <p:nvPr>
            <p:custDataLst>
              <p:tags r:id="rId1"/>
            </p:custDataLst>
          </p:nvPr>
        </p:nvCxnSpPr>
        <p:spPr>
          <a:xfrm>
            <a:off x="3058547" y="3676035"/>
            <a:ext cx="9133448" cy="1059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>
            <p:custDataLst>
              <p:tags r:id="rId2"/>
            </p:custDataLst>
          </p:nvPr>
        </p:nvSpPr>
        <p:spPr>
          <a:xfrm rot="10800000" flipV="1">
            <a:off x="3232008" y="343140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5" name="圆角矩形 24"/>
          <p:cNvSpPr/>
          <p:nvPr>
            <p:custDataLst>
              <p:tags r:id="rId3"/>
            </p:custDataLst>
          </p:nvPr>
        </p:nvSpPr>
        <p:spPr>
          <a:xfrm rot="10800000" flipV="1">
            <a:off x="8180958" y="343140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sp>
        <p:nvSpPr>
          <p:cNvPr id="26" name="圆角矩形 25"/>
          <p:cNvSpPr/>
          <p:nvPr>
            <p:custDataLst>
              <p:tags r:id="rId4"/>
            </p:custDataLst>
          </p:nvPr>
        </p:nvSpPr>
        <p:spPr>
          <a:xfrm rot="10800000" flipV="1">
            <a:off x="4881658" y="343140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27" name="圆角矩形 26"/>
          <p:cNvSpPr/>
          <p:nvPr>
            <p:custDataLst>
              <p:tags r:id="rId5"/>
            </p:custDataLst>
          </p:nvPr>
        </p:nvSpPr>
        <p:spPr>
          <a:xfrm rot="10800000" flipV="1">
            <a:off x="9830607" y="343140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/>
              <a:t>5</a:t>
            </a:r>
            <a:endParaRPr lang="zh-CN" altLang="en-US" sz="2400" b="1" dirty="0"/>
          </a:p>
        </p:txBody>
      </p:sp>
      <p:sp>
        <p:nvSpPr>
          <p:cNvPr id="28" name="圆角矩形 27"/>
          <p:cNvSpPr/>
          <p:nvPr>
            <p:custDataLst>
              <p:tags r:id="rId6"/>
            </p:custDataLst>
          </p:nvPr>
        </p:nvSpPr>
        <p:spPr>
          <a:xfrm rot="10800000" flipV="1">
            <a:off x="6531309" y="343140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sp>
        <p:nvSpPr>
          <p:cNvPr id="31" name="矩形 30"/>
          <p:cNvSpPr/>
          <p:nvPr>
            <p:custDataLst>
              <p:tags r:id="rId7"/>
            </p:custDataLst>
          </p:nvPr>
        </p:nvSpPr>
        <p:spPr>
          <a:xfrm>
            <a:off x="3154242" y="4765025"/>
            <a:ext cx="2211703" cy="98996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准确及时地跟踪内存访问的频率和位置，具有高时间与空间分辨率。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3154241" y="4404230"/>
            <a:ext cx="1217930" cy="4692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高分辨率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9"/>
            </p:custDataLst>
          </p:nvPr>
        </p:nvSpPr>
        <p:spPr>
          <a:xfrm>
            <a:off x="6449461" y="4765025"/>
            <a:ext cx="2211703" cy="98996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缓存，只捕获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LLC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未命中，确保高准确性。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0"/>
            </p:custDataLst>
          </p:nvPr>
        </p:nvSpPr>
        <p:spPr>
          <a:xfrm>
            <a:off x="6449459" y="4404230"/>
            <a:ext cx="1217930" cy="4692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缓存感知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11"/>
            </p:custDataLst>
          </p:nvPr>
        </p:nvSpPr>
        <p:spPr>
          <a:xfrm>
            <a:off x="9744681" y="4765025"/>
            <a:ext cx="2211703" cy="129032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捕获关键运行时信息，如带宽利用率、读写比和访问频率分布，以便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OS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进行更好的调度。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2"/>
            </p:custDataLst>
          </p:nvPr>
        </p:nvSpPr>
        <p:spPr>
          <a:xfrm>
            <a:off x="9744679" y="4404230"/>
            <a:ext cx="1217930" cy="4692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全面分析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13"/>
            </p:custDataLst>
          </p:nvPr>
        </p:nvSpPr>
        <p:spPr>
          <a:xfrm>
            <a:off x="4803893" y="1733939"/>
            <a:ext cx="2211703" cy="69024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消耗最少的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周期，确保系统性能不受影响。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4803891" y="1373144"/>
            <a:ext cx="976630" cy="4692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低开销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15"/>
            </p:custDataLst>
          </p:nvPr>
        </p:nvSpPr>
        <p:spPr>
          <a:xfrm>
            <a:off x="8099111" y="1733939"/>
            <a:ext cx="2211703" cy="98996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设计通用，兼容支持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内存扩展的各种平台。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8099109" y="1373144"/>
            <a:ext cx="1388110" cy="46926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兼容性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60" name="文本框 59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 6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5" name="组 64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文本框 374"/>
          <p:cNvSpPr txBox="1"/>
          <p:nvPr>
            <p:custDataLst>
              <p:tags r:id="rId1"/>
            </p:custDataLst>
          </p:nvPr>
        </p:nvSpPr>
        <p:spPr>
          <a:xfrm>
            <a:off x="540291" y="1606097"/>
            <a:ext cx="1400810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概览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6" name="直接连接符 375"/>
          <p:cNvCxnSpPr/>
          <p:nvPr>
            <p:custDataLst>
              <p:tags r:id="rId2"/>
            </p:custDataLst>
          </p:nvPr>
        </p:nvCxnSpPr>
        <p:spPr>
          <a:xfrm>
            <a:off x="620875" y="2111366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" name="矩形 396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9" name="组 398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865495" y="1530350"/>
            <a:ext cx="54076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08575" y="1605915"/>
            <a:ext cx="5920740" cy="4746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NeoProf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驻留在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内存设备的控制器侧，直接监控对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内存的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LLC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未命中。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核心单元：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 Page Monitor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侦听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控制器侧的内存访问请求，识别物理页地址，并将其转发给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NeoProf Core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进行分析。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 State Monitor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跟踪读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写事务，估计带宽利用率和读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写比。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 NeoProf Core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：与两个监视器协同工作，识别热页并响应宿主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的控制命令。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OS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NeoProf Core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的寄存器被内存映射到预定义的地址空间，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内核可以通过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MMIO (Memory-Mapped I/O)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频率域：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NeoProf Core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运行在低频域，而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State Monitor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Page Monitor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运行在高频域，以匹配内存控制器的要求，通过异步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FIFO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进行数据传输。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2536825"/>
            <a:ext cx="4460240" cy="2461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文本框 374"/>
          <p:cNvSpPr txBox="1"/>
          <p:nvPr>
            <p:custDataLst>
              <p:tags r:id="rId1"/>
            </p:custDataLst>
          </p:nvPr>
        </p:nvSpPr>
        <p:spPr>
          <a:xfrm>
            <a:off x="540291" y="1606097"/>
            <a:ext cx="1705610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检测器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6" name="直接连接符 375"/>
          <p:cNvCxnSpPr/>
          <p:nvPr>
            <p:custDataLst>
              <p:tags r:id="rId2"/>
            </p:custDataLst>
          </p:nvPr>
        </p:nvCxnSpPr>
        <p:spPr>
          <a:xfrm>
            <a:off x="620875" y="2111366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" name="矩形 396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9" name="组 398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865495" y="1530350"/>
            <a:ext cx="54076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08575" y="1605915"/>
            <a:ext cx="5920740" cy="4746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因为直接为每个物理页使用计数器会消耗大量内存和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DRAM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带宽，并引入显著延迟。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Count-Min 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算法：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原理：使用一个二维数组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counts (W*D)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来估计数据流中项目的频率。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个不同的哈希函数将输入页面地址映射到每一行的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个条目之一。当页面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P`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访问时，对应的哈希条目计数器增加。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a(P)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（估计访问频率）是所有哈希条目中的最小值。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-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增强功能：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高效热页过滤机制：引入一个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在每个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条目中，防止重复检测。在页面地址传输到输出缓冲区之前，热页过滤器检查哈希条目中的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。如果所有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都为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True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，则表示该页可能已被记录，予以忽略。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错误边界控制机制：采用基于直方图的错误边界估计机制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，通过读取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计数器直方图来估计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百分位数频率，减少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通道占用和主机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周期。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:/Users/19753/Desktop/读论文图片/图7.png图7"/>
          <p:cNvPicPr>
            <a:picLocks noChangeAspect="1"/>
          </p:cNvPicPr>
          <p:nvPr/>
        </p:nvPicPr>
        <p:blipFill>
          <a:blip r:embed="rId3"/>
          <a:srcRect t="8656" b="8656"/>
          <a:stretch>
            <a:fillRect/>
          </a:stretch>
        </p:blipFill>
        <p:spPr>
          <a:xfrm>
            <a:off x="540385" y="2557145"/>
            <a:ext cx="4460240" cy="2461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文本框 374"/>
          <p:cNvSpPr txBox="1"/>
          <p:nvPr>
            <p:custDataLst>
              <p:tags r:id="rId1"/>
            </p:custDataLst>
          </p:nvPr>
        </p:nvSpPr>
        <p:spPr>
          <a:xfrm>
            <a:off x="540291" y="1606097"/>
            <a:ext cx="1400810" cy="5695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6" name="直接连接符 375"/>
          <p:cNvCxnSpPr/>
          <p:nvPr>
            <p:custDataLst>
              <p:tags r:id="rId2"/>
            </p:custDataLst>
          </p:nvPr>
        </p:nvCxnSpPr>
        <p:spPr>
          <a:xfrm>
            <a:off x="620875" y="2111366"/>
            <a:ext cx="2905225" cy="16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7" name="矩形 396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9" name="组 398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5865495" y="1530350"/>
            <a:ext cx="540766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08575" y="1605915"/>
            <a:ext cx="5920740" cy="4746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流水线设计：检测器分为三个主要阶段：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哈希索引计算，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热页检查，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热页过滤，每个阶段包含更细的流水线。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哈希函数：使用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H3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哈希函数进行哈希索引计算。</a:t>
            </a:r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数组分区：将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数组内存划分为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个子块，以流水线方式实现，解决宽</a:t>
            </a:r>
            <a:r>
              <a:rPr lang="en-US" altLang="zh-CN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Sketch </a:t>
            </a:r>
            <a:r>
              <a:rPr lang="zh-CN" altLang="en-US" sz="16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数组单周期索引和更新的挑战。</a:t>
            </a:r>
            <a:endParaRPr lang="en-US" altLang="zh-CN" sz="1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:/Users/19753/Desktop/读论文图片/图8.png图8"/>
          <p:cNvPicPr>
            <a:picLocks noChangeAspect="1"/>
          </p:cNvPicPr>
          <p:nvPr/>
        </p:nvPicPr>
        <p:blipFill>
          <a:blip r:embed="rId3"/>
          <a:srcRect t="5467" b="5467"/>
          <a:stretch>
            <a:fillRect/>
          </a:stretch>
        </p:blipFill>
        <p:spPr>
          <a:xfrm>
            <a:off x="540385" y="2536825"/>
            <a:ext cx="4460240" cy="2461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19"/>
          <p:cNvSpPr/>
          <p:nvPr/>
        </p:nvSpPr>
        <p:spPr>
          <a:xfrm>
            <a:off x="4862681" y="2884521"/>
            <a:ext cx="2259019" cy="2236715"/>
          </a:xfrm>
          <a:prstGeom prst="ellipse">
            <a:avLst/>
          </a:prstGeom>
          <a:solidFill>
            <a:srgbClr val="4472C4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42785" y="2594956"/>
            <a:ext cx="2418483" cy="2515367"/>
            <a:chOff x="4721608" y="1835707"/>
            <a:chExt cx="1879634" cy="1954931"/>
          </a:xfrm>
          <a:solidFill>
            <a:srgbClr val="4472C4">
              <a:alpha val="39000"/>
            </a:srgbClr>
          </a:solidFill>
        </p:grpSpPr>
        <p:sp>
          <p:nvSpPr>
            <p:cNvPr id="20" name="圆角矩形 19"/>
            <p:cNvSpPr/>
            <p:nvPr/>
          </p:nvSpPr>
          <p:spPr>
            <a:xfrm>
              <a:off x="4721608" y="1835707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4845543" y="2052274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320030" y="3171825"/>
            <a:ext cx="1704340" cy="12096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NeoProf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简单总结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784904" y="1905739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09270" y="1874039"/>
            <a:ext cx="375920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近似统计每个页被打到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297641" y="2242766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213765" y="2320651"/>
            <a:ext cx="3532695" cy="129032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Count-Min Sketch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就像：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用几个「计数表」，每次把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页号丢进几个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hash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函数并在对应位置计数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+1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不会漏热页（最多把冷页误判成热页）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784903" y="4044607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09268" y="4012907"/>
            <a:ext cx="266573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不重复上报同一个热页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297637" y="438163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213760" y="4459517"/>
            <a:ext cx="3532696" cy="189039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bucket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加一个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某页访问次数超过阈值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成为热页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设置该页对应的所有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bits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再次判热时，如果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bits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说明这个页上报过不重复放到缓冲区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 rot="10800000" flipV="1">
            <a:off x="11083920" y="1920667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79933" y="1874039"/>
            <a:ext cx="145923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自调整阈值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8627392" y="2242766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577499" y="2320651"/>
            <a:ext cx="3532695" cy="98996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如果非常多页都被频繁访问，会调高阈值：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只有访问次数特别特别密集的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页才算热。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 rot="10800000" flipV="1">
            <a:off x="11083920" y="4059534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68913" y="4012907"/>
            <a:ext cx="214122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设备信息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8627392" y="438163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7577499" y="4459517"/>
            <a:ext cx="3532695" cy="98996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NeoProf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本来就在数据路径上，所以顺便统计信息帮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判断内存压力、热页过多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过少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等信息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58" name="文本框 57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" name="组 60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3" name="组 62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5" name="圆角矩形 6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375856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NeoMem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做两件事</a:t>
            </a:r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 NeoMem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内核守护线程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）定期从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NeoProf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读热页列表、访问频率分布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等结果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）根据策略（下一节解释）决定迁移哪些页、迁移多少页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）调用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Linux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的页迁移接口来搬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）每轮结束后清零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Sketch</a:t>
            </a:r>
            <a:endParaRPr lang="en-US" altLang="zh-CN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endParaRPr lang="en-US" altLang="zh-CN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迁移策略：怎么决定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迁多少页、迁哪些页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4095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3155315" y="3048635"/>
            <a:ext cx="768985" cy="38036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375856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NeoMem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做两件事</a:t>
            </a:r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 NeoMem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内核守护线程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迁移策略：怎么决定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迁多少页、迁哪些页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通过控制一个参数：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=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热页比例（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 p%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然后根据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确定阈值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个核心指标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4095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1799590" y="3771900"/>
            <a:ext cx="768985" cy="38036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19"/>
          <p:cNvSpPr/>
          <p:nvPr/>
        </p:nvSpPr>
        <p:spPr>
          <a:xfrm>
            <a:off x="4862681" y="2884521"/>
            <a:ext cx="2259019" cy="2236715"/>
          </a:xfrm>
          <a:prstGeom prst="ellipse">
            <a:avLst/>
          </a:prstGeom>
          <a:solidFill>
            <a:srgbClr val="4472C4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42785" y="2594956"/>
            <a:ext cx="2418483" cy="2515367"/>
            <a:chOff x="4721608" y="1835707"/>
            <a:chExt cx="1879634" cy="1954931"/>
          </a:xfrm>
          <a:solidFill>
            <a:srgbClr val="4472C4">
              <a:alpha val="39000"/>
            </a:srgbClr>
          </a:solidFill>
        </p:grpSpPr>
        <p:sp>
          <p:nvSpPr>
            <p:cNvPr id="20" name="圆角矩形 19"/>
            <p:cNvSpPr/>
            <p:nvPr/>
          </p:nvSpPr>
          <p:spPr>
            <a:xfrm>
              <a:off x="4721608" y="1835707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4845543" y="2052274"/>
              <a:ext cx="1755699" cy="17383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320030" y="3171825"/>
            <a:ext cx="1704340" cy="12096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核心指标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 rot="10800000" flipV="1">
            <a:off x="784904" y="1905739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09270" y="1874039"/>
            <a:ext cx="375920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近似统计每个页被打到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297641" y="2242766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213765" y="2320651"/>
            <a:ext cx="3532695" cy="129032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Count-Min Sketch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就像：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用几个「计数表」，每次把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页号丢进几个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hash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函数并在对应位置计数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+1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不会漏热页（最多把冷页误判成热页）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784903" y="4044607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solidFill>
              <a:srgbClr val="7F7F7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09268" y="4012907"/>
            <a:ext cx="266573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不重复上报同一个热页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297637" y="438163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213760" y="4459517"/>
            <a:ext cx="3532696" cy="189039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bucket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加一个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某页访问次数超过阈值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成为热页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设置该页对应的所有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bits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再次判热时，如果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Hot bits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说明这个页上报过不重复放到缓冲区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 rot="10800000" flipV="1">
            <a:off x="11083920" y="1920667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79933" y="1874039"/>
            <a:ext cx="145923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自调整阈值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8627392" y="2242766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577499" y="2320651"/>
            <a:ext cx="3532695" cy="98996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如果非常多页都被频繁访问，会调高阈值：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只有访问次数特别特别密集的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页才算热。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 rot="10800000" flipV="1">
            <a:off x="11083920" y="4059534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968913" y="4012907"/>
            <a:ext cx="214122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CXL</a:t>
            </a: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设备信息</a:t>
            </a:r>
            <a:r>
              <a:rPr lang="en-US" altLang="zh-CN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8627392" y="438163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7577499" y="4459517"/>
            <a:ext cx="3532695" cy="98996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NeoProf 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本来就在数据路径上，所以顺便统计信息帮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判断内存压力、热页过多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过少</a:t>
            </a:r>
            <a:r>
              <a:rPr lang="en-US" altLang="zh-CN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</a:t>
            </a:r>
            <a:r>
              <a:rPr lang="zh-CN" altLang="en-US" sz="15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等信息</a:t>
            </a:r>
            <a:endParaRPr lang="zh-CN" altLang="en-US" sz="15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en-US" altLang="zh-CN" sz="3600" dirty="0"/>
          </a:p>
        </p:txBody>
      </p:sp>
      <p:sp>
        <p:nvSpPr>
          <p:cNvPr id="58" name="文本框 57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492473" y="325001"/>
            <a:ext cx="142049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" name="组 60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3" name="组 62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5" name="圆角矩形 6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-21101" y="2847434"/>
            <a:ext cx="12213103" cy="1296345"/>
            <a:chOff x="-21102" y="2847433"/>
            <a:chExt cx="12213102" cy="1296345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036504" y="3077396"/>
              <a:ext cx="3610610" cy="82867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评估与</a:t>
              </a:r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贡献</a:t>
              </a:r>
              <a:endParaRPr lang="zh-CN" altLang="en-US" sz="48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 2"/>
            <p:cNvGrpSpPr/>
            <p:nvPr/>
          </p:nvGrpSpPr>
          <p:grpSpPr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338" y="364333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338" y="3908764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338" y="312217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338" y="3387600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338" y="2850728"/>
                <a:ext cx="227250" cy="24277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2597339" y="3264361"/>
              <a:ext cx="5285105" cy="459105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A2A2A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EVALUATION AND CONTRIBUTION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 27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30" name="组 2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34" name="圆角矩形 3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圆角矩形 36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32" name="圆角矩形 3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 形 1"/>
          <p:cNvSpPr/>
          <p:nvPr/>
        </p:nvSpPr>
        <p:spPr>
          <a:xfrm rot="2686645">
            <a:off x="4605409" y="2412323"/>
            <a:ext cx="1430064" cy="1443667"/>
          </a:xfrm>
          <a:prstGeom prst="corner">
            <a:avLst/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/>
          </a:p>
        </p:txBody>
      </p:sp>
      <p:sp>
        <p:nvSpPr>
          <p:cNvPr id="18" name="L 形 17"/>
          <p:cNvSpPr/>
          <p:nvPr/>
        </p:nvSpPr>
        <p:spPr>
          <a:xfrm rot="8086645">
            <a:off x="5819108" y="2416548"/>
            <a:ext cx="1420689" cy="1392304"/>
          </a:xfrm>
          <a:prstGeom prst="corner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/>
          </a:p>
        </p:txBody>
      </p:sp>
      <p:sp>
        <p:nvSpPr>
          <p:cNvPr id="20" name="L 形 19"/>
          <p:cNvSpPr/>
          <p:nvPr/>
        </p:nvSpPr>
        <p:spPr>
          <a:xfrm rot="13486645">
            <a:off x="5830865" y="3610563"/>
            <a:ext cx="1428819" cy="1428819"/>
          </a:xfrm>
          <a:prstGeom prst="corner">
            <a:avLst/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/>
          </a:p>
        </p:txBody>
      </p:sp>
      <p:sp>
        <p:nvSpPr>
          <p:cNvPr id="21" name="L 形 20"/>
          <p:cNvSpPr/>
          <p:nvPr/>
        </p:nvSpPr>
        <p:spPr>
          <a:xfrm rot="18886645">
            <a:off x="4630663" y="3640516"/>
            <a:ext cx="1428819" cy="1428819"/>
          </a:xfrm>
          <a:prstGeom prst="corner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/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3395960" y="2180807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593997" y="2073533"/>
            <a:ext cx="114681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原型</a:t>
            </a:r>
            <a:r>
              <a:rPr lang="zh-CN" altLang="en-US" dirty="0">
                <a:solidFill>
                  <a:schemeClr val="tx2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实现</a:t>
            </a:r>
            <a:endParaRPr lang="zh-CN" altLang="en-US" dirty="0">
              <a:solidFill>
                <a:schemeClr val="tx2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919593" y="2456886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35717" y="2534772"/>
            <a:ext cx="2397219" cy="80899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NeoProf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写在真实硬件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NeoMem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直接集成进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Linux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v6.3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 rot="10800000" flipV="1">
            <a:off x="8289987" y="2195434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36" name="文本框 35"/>
          <p:cNvSpPr txBox="1"/>
          <p:nvPr/>
        </p:nvSpPr>
        <p:spPr>
          <a:xfrm>
            <a:off x="8714351" y="2149827"/>
            <a:ext cx="114681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工作负载</a:t>
            </a:r>
            <a:endParaRPr lang="zh-CN" altLang="en-US" dirty="0">
              <a:solidFill>
                <a:schemeClr val="tx2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8802721" y="251855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8718845" y="2596439"/>
            <a:ext cx="2397219" cy="80899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测试的任务覆盖数据中心、图处理、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HPC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、数据库、科学计算等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大内存应用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 rot="10800000" flipV="1">
            <a:off x="3389692" y="4245523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41" name="文本框 40"/>
          <p:cNvSpPr txBox="1"/>
          <p:nvPr/>
        </p:nvSpPr>
        <p:spPr>
          <a:xfrm>
            <a:off x="1660494" y="4086682"/>
            <a:ext cx="114681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对比基线</a:t>
            </a:r>
            <a:endParaRPr lang="zh-CN" altLang="en-US" dirty="0">
              <a:solidFill>
                <a:schemeClr val="tx2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919596" y="4519517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35717" y="4597404"/>
            <a:ext cx="2397219" cy="128905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为了证明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NeoMem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更好，论文对比了五类现有方法，这些方法要么太慢、要么不准、要么只能采样，难以应对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这种高延迟的跨层内存。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 rot="10800000" flipV="1">
            <a:off x="8289983" y="428028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8714347" y="4233658"/>
            <a:ext cx="1146810" cy="469265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对比结果</a:t>
            </a:r>
            <a:endParaRPr lang="zh-CN" altLang="en-US" dirty="0">
              <a:solidFill>
                <a:schemeClr val="tx2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8802721" y="4602383"/>
            <a:ext cx="2229467" cy="1462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8718843" y="4680272"/>
            <a:ext cx="2397220" cy="152844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总体平均加速约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en-US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</a:t>
            </a:r>
            <a:endParaRPr lang="en-US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热点特别明显的应用可加速约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3-4</a:t>
            </a:r>
            <a:r>
              <a:rPr lang="en-US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</a:t>
            </a:r>
            <a:endParaRPr lang="en-US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尤其当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越小，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NeoMem 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相对于其他方案优势越显著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807274" y="252859"/>
            <a:ext cx="938472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en-US" altLang="zh-CN" sz="3600" dirty="0"/>
          </a:p>
        </p:txBody>
      </p:sp>
      <p:sp>
        <p:nvSpPr>
          <p:cNvPr id="64" name="文本框 63"/>
          <p:cNvSpPr txBox="1"/>
          <p:nvPr/>
        </p:nvSpPr>
        <p:spPr>
          <a:xfrm>
            <a:off x="647719" y="267583"/>
            <a:ext cx="2086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评估与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01546" y="325001"/>
            <a:ext cx="4222750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EVALUATION AND CONTRIBUTION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 66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9" name="组 68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73" name="圆角矩形 72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圆角矩形 73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圆角矩形 74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圆角矩形 75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1" name="圆角矩形 7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圆角矩形 55"/>
          <p:cNvSpPr/>
          <p:nvPr/>
        </p:nvSpPr>
        <p:spPr>
          <a:xfrm>
            <a:off x="4" y="2065437"/>
            <a:ext cx="12197665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-5665" y="1876965"/>
            <a:ext cx="12197665" cy="4170219"/>
          </a:xfrm>
          <a:prstGeom prst="roundRect">
            <a:avLst>
              <a:gd name="adj" fmla="val 0"/>
            </a:avLst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438405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2" y="249443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altLang="zh-CN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9" y="267582"/>
            <a:ext cx="1705610" cy="459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</a:t>
            </a:r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lang="zh-CN" altLang="en-US" sz="2400" spc="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767428" y="325001"/>
            <a:ext cx="870585" cy="38227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FINAL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80515" y="2173605"/>
            <a:ext cx="8842375" cy="375856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endParaRPr lang="zh-CN" altLang="en-US" sz="28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通过在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CXL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内存设备上增加一个轻量级硬件模块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NeoProf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直接在设备侧精确统计每个物理页的访问热度，并把结果喂给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OS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2400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再配合一个动态自适应的迁移策略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NeoMem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从硬件/软件协同的角度，把“CXL 内存分层里最难的热页检测”这件事做得更实用、更通用。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 42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712263" y="3197474"/>
            <a:ext cx="10767476" cy="40957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3711620" y="2246379"/>
            <a:ext cx="4652010" cy="1443990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观看</a:t>
            </a:r>
            <a:endParaRPr lang="zh-CN" altLang="en-US" sz="8800" dirty="0">
              <a:ln w="0"/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981613" y="4515843"/>
            <a:ext cx="6158739" cy="33855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16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Calibri" panose="020F0502020204030204" charset="0"/>
                <a:cs typeface="Segoe UI Semilight" panose="020B0402040204020203" pitchFamily="34" charset="0"/>
              </a:rPr>
              <a:t>The Graduation Thesis Defense</a:t>
            </a:r>
            <a:endParaRPr lang="zh-CN" altLang="en-US" sz="1600" b="1" spc="600" dirty="0">
              <a:solidFill>
                <a:schemeClr val="bg1">
                  <a:lumMod val="50000"/>
                  <a:alpha val="78000"/>
                </a:schemeClr>
              </a:solidFill>
              <a:latin typeface="Calibri" panose="020F0502020204030204" charset="0"/>
              <a:cs typeface="Segoe UI Semilight" panose="020B0402040204020203" pitchFamily="3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23066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 43"/>
          <p:cNvGrpSpPr/>
          <p:nvPr/>
        </p:nvGrpSpPr>
        <p:grpSpPr>
          <a:xfrm rot="0"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3" name="组 62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5" name="圆角矩形 6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72" name="矩形 71"/>
          <p:cNvSpPr/>
          <p:nvPr/>
        </p:nvSpPr>
        <p:spPr>
          <a:xfrm>
            <a:off x="-8551" y="5623751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6" y="6057841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1" y="5713688"/>
            <a:ext cx="6218119" cy="1015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5" y="5586367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4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2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3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4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5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6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7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8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9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10.xml><?xml version="1.0" encoding="utf-8"?>
<p:tagLst xmlns:p="http://schemas.openxmlformats.org/presentationml/2006/main">
  <p:tag name="KSO_WM_DIAGRAM_VIRTUALLY_FRAME" val="{&quot;height&quot;:539.9999212598425,&quot;left&quot;:252.13692913385825,&quot;top&quot;:7.874015748031496e-05,&quot;width&quot;:548.583937007874}"/>
</p:tagLst>
</file>

<file path=ppt/tags/tag11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2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3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4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5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6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17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18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19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0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1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2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3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4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5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6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7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8.xml><?xml version="1.0" encoding="utf-8"?>
<p:tagLst xmlns:p="http://schemas.openxmlformats.org/presentationml/2006/main">
  <p:tag name="KSO_WM_DIAGRAM_VIRTUALLY_FRAME" val="{&quot;height&quot;:183.71629921259847,&quot;left&quot;:93.6056692913386,&quot;top&quot;:349.8535433070866,&quot;width&quot;:836.7141732283465}"/>
</p:tagLst>
</file>

<file path=ppt/tags/tag29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0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1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2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3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4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5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6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7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8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39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0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1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2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3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4.xml><?xml version="1.0" encoding="utf-8"?>
<p:tagLst xmlns:p="http://schemas.openxmlformats.org/presentationml/2006/main">
  <p:tag name="KSO_WM_DIAGRAM_VIRTUALLY_FRAME" val="{&quot;height&quot;:463.1772440944882,&quot;left&quot;:240.83047244094487,&quot;top&quot;:108.12157480314961,&quot;width&quot;:719.1691338582677}"/>
</p:tagLst>
</file>

<file path=ppt/tags/tag45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46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47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48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49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ags/tag50.xml><?xml version="1.0" encoding="utf-8"?>
<p:tagLst xmlns:p="http://schemas.openxmlformats.org/presentationml/2006/main">
  <p:tag name="KSO_WM_DIAGRAM_VIRTUALLY_FRAME" val="{&quot;height&quot;:357.60606299212594,&quot;left&quot;:36.51401574803149,&quot;top&quot;:126.46433070866142,&quot;width&quot;:893.9293700787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4188</Words>
  <Application>WPS 演示</Application>
  <PresentationFormat>自定义</PresentationFormat>
  <Paragraphs>389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Segoe UI Semilight</vt:lpstr>
      <vt:lpstr>Eras Light ITC</vt:lpstr>
      <vt:lpstr>Century Gothic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第一PPT模板网-WWW.1PPT.COM</dc:creator>
  <dc:description>第一PPT模板网-WWW.1PPT.COM</dc:description>
  <dc:subject>第一PPT模板网-WWW.1PPT.COM</dc:subject>
  <cp:category>第一PPT模板网-WWW.1PPT.COM</cp:category>
  <cp:lastModifiedBy>breaking  dawn</cp:lastModifiedBy>
  <cp:revision>212</cp:revision>
  <dcterms:created xsi:type="dcterms:W3CDTF">2015-04-07T16:28:00Z</dcterms:created>
  <dcterms:modified xsi:type="dcterms:W3CDTF">2025-12-10T15:19:15Z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707969F528BC419997F4B09A092B0327_13</vt:lpwstr>
  </property>
  <property fmtid="{D5CDD505-2E9C-101B-9397-08002B2CF9AE}" pid="3" name="KSOProductBuildVer">
    <vt:lpwstr>2052-12.1.0.19302</vt:lpwstr>
  </property>
</Properties>
</file>